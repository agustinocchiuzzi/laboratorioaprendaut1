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410B8E0-ADEE-4C14-B00A-36AEA521AFB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172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3379320"/>
            <a:ext cx="10971720" cy="42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172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x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70280" cy="6856920"/>
          </a:xfrm>
          <a:prstGeom prst="rect">
            <a:avLst/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320" tIns="45000" rIns="853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85800" y="1924200"/>
            <a:ext cx="1618200" cy="46440"/>
          </a:xfrm>
          <a:prstGeom prst="rect">
            <a:avLst/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520" rIns="9000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685800" y="516960"/>
            <a:ext cx="5047200" cy="102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"/>
          <p:cNvSpPr/>
          <p:nvPr/>
        </p:nvSpPr>
        <p:spPr>
          <a:xfrm>
            <a:off x="685800" y="2286000"/>
            <a:ext cx="3808800" cy="41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Tarea 1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85800" y="2781360"/>
            <a:ext cx="9905040" cy="16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6000"/>
              </a:lnSpc>
            </a:pPr>
            <a:r>
              <a:rPr lang="en-US" sz="4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Predicción de resultados</a:t>
            </a:r>
            <a:endParaRPr lang="en-US" sz="4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6000"/>
              </a:lnSpc>
            </a:pPr>
            <a:r>
              <a:rPr lang="en-US" sz="4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del fútbol uruguayo</a:t>
            </a:r>
            <a:endParaRPr lang="en-US" sz="4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85800" y="4686480"/>
            <a:ext cx="666648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Aprendizaje Automático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5800" y="5829480"/>
            <a:ext cx="10819440" cy="13320"/>
          </a:xfrm>
          <a:prstGeom prst="rect">
            <a:avLst/>
          </a:prstGeom>
          <a:solidFill>
            <a:srgbClr val="5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12191040" cy="13212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85800" y="324000"/>
            <a:ext cx="4951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PROBLEMA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85800" y="6476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Predecir uno de tres resultados posibles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85800" y="6172200"/>
            <a:ext cx="10819440" cy="133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3120" cy="4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"/>
          <p:cNvSpPr/>
          <p:nvPr/>
        </p:nvSpPr>
        <p:spPr>
          <a:xfrm>
            <a:off x="11125080" y="6381720"/>
            <a:ext cx="379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2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85800" y="1581120"/>
            <a:ext cx="17136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Datos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685800" y="1924200"/>
            <a:ext cx="58093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2000"/>
              </a:lnSpc>
            </a:pPr>
            <a:r>
              <a:rPr lang="en-US" sz="247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Partidos del </a:t>
            </a:r>
            <a:r>
              <a:rPr lang="en-US" sz="247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fútbol uruguayo </a:t>
            </a:r>
            <a:r>
              <a:rPr lang="en-US" sz="247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entre 1932 y </a:t>
            </a:r>
            <a:r>
              <a:rPr lang="en-US" sz="247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685800" y="2743200"/>
            <a:ext cx="5809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Subconjunto del dataset </a:t>
            </a:r>
            <a:r>
              <a:rPr lang="en-US" sz="15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construido por Mart Jürisoo </a:t>
            </a:r>
            <a:r>
              <a:rPr lang="en-US" sz="15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restringido a Uruguay.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85800" y="3543480"/>
            <a:ext cx="38088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Objetivos del </a:t>
            </a:r>
            <a:r>
              <a:rPr lang="en-US" sz="1729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laboratorio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85800" y="3943440"/>
            <a:ext cx="6094800" cy="14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6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Aplicar herramientas </a:t>
            </a:r>
            <a:r>
              <a:rPr lang="en-US" sz="16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metodológicas sobre datos </a:t>
            </a:r>
            <a:r>
              <a:rPr lang="en-US" sz="16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reales.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6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Implementar y aplicar </a:t>
            </a:r>
            <a:r>
              <a:rPr lang="en-US" sz="16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métodos de aprendizaje </a:t>
            </a:r>
            <a:r>
              <a:rPr lang="en-US" sz="16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supervisado.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Analizar los resultados </a:t>
            </a:r>
            <a:r>
              <a:rPr lang="en-US" sz="16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obtenidos.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429680" y="1628640"/>
            <a:ext cx="3846960" cy="3856680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>
            <a:solidFill>
              <a:srgbClr val="D3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7810560" y="1924200"/>
            <a:ext cx="30852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Clase objetivo: ganador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848720" y="2571840"/>
            <a:ext cx="6847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323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8744040" y="2657520"/>
            <a:ext cx="199908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ga</a:t>
            </a: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na </a:t>
            </a: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el </a:t>
            </a: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loc</a:t>
            </a: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al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7848720" y="3276720"/>
            <a:ext cx="300888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7848720" y="3448080"/>
            <a:ext cx="6847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323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V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744040" y="3533760"/>
            <a:ext cx="199908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gana el visitante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7848720" y="4152960"/>
            <a:ext cx="300888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7848720" y="4324320"/>
            <a:ext cx="6847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323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8744040" y="4410000"/>
            <a:ext cx="199908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hay empate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0" y="0"/>
            <a:ext cx="12191040" cy="13212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85800" y="6476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Procesamiento reproducible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85800" y="6172200"/>
            <a:ext cx="10819440" cy="133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3120" cy="4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"/>
          <p:cNvSpPr/>
          <p:nvPr/>
        </p:nvSpPr>
        <p:spPr>
          <a:xfrm>
            <a:off x="11125080" y="6381720"/>
            <a:ext cx="379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2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85800" y="1619280"/>
            <a:ext cx="5515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352520" y="1590840"/>
            <a:ext cx="55234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Limpiar los datos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352520" y="2038320"/>
            <a:ext cx="538992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5800" y="2305080"/>
            <a:ext cx="5515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352520" y="2276640"/>
            <a:ext cx="55234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Completar valores faltantes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352520" y="2724120"/>
            <a:ext cx="538992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85800" y="2990880"/>
            <a:ext cx="5515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352520" y="2962440"/>
            <a:ext cx="55234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Transformar y discretizar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352520" y="3409920"/>
            <a:ext cx="538992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85800" y="3676680"/>
            <a:ext cx="5515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352520" y="3648240"/>
            <a:ext cx="55234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Eliminar duplicados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352520" y="4095720"/>
            <a:ext cx="538992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85800" y="4362480"/>
            <a:ext cx="5515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52520" y="4334040"/>
            <a:ext cx="55234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Aplicar otros procedimientos necesarios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334280" y="1744200"/>
            <a:ext cx="3942360" cy="1751400"/>
          </a:xfrm>
          <a:prstGeom prst="roundRect">
            <a:avLst>
              <a:gd name="adj" fmla="val 9783"/>
            </a:avLst>
          </a:prstGeom>
          <a:solidFill>
            <a:srgbClr val="E7EF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677000" y="1886040"/>
            <a:ext cx="325656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Uso de los atributos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7677000" y="2343240"/>
            <a:ext cx="32374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9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No es obligatorio usar todos.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9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Se pueden crear atributos calculados.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Se pueden agregar atributos externos.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7334280" y="3749040"/>
            <a:ext cx="3942360" cy="1808640"/>
          </a:xfrm>
          <a:prstGeom prst="roundRect">
            <a:avLst>
              <a:gd name="adj" fmla="val 9474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677000" y="3857760"/>
            <a:ext cx="3199320" cy="8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2000"/>
              </a:lnSpc>
            </a:pPr>
            <a:r>
              <a:rPr lang="en-US" sz="2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Pipeline completamente </a:t>
            </a:r>
            <a:r>
              <a:rPr lang="en-US" sz="2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reproducible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677000" y="4924440"/>
            <a:ext cx="31993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 recomienda utilizar la clase Pipeline de scikit-learn.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0" y="0"/>
            <a:ext cx="12191040" cy="13212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85800" y="6476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Deben implementarse dos clasificadores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85800" y="6172200"/>
            <a:ext cx="10819440" cy="133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3120" cy="4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"/>
          <p:cNvSpPr/>
          <p:nvPr/>
        </p:nvSpPr>
        <p:spPr>
          <a:xfrm>
            <a:off x="11125080" y="6381720"/>
            <a:ext cx="379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2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85800" y="1619280"/>
            <a:ext cx="5256720" cy="3618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D3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028880" y="1952640"/>
            <a:ext cx="4570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47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Árbol de decisión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028880" y="2476440"/>
            <a:ext cx="1027800" cy="3708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28880" y="2857680"/>
            <a:ext cx="457092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min_info_gain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028880" y="3600360"/>
            <a:ext cx="4380480" cy="11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8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Detiene la recursión cuando ningún atributo supera una ganancia mínima de información.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248520" y="1619280"/>
            <a:ext cx="5256720" cy="3618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D3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591240" y="1952640"/>
            <a:ext cx="4570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47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Naive Bayes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591240" y="2476440"/>
            <a:ext cx="1027800" cy="37080"/>
          </a:xfrm>
          <a:prstGeom prst="rect">
            <a:avLst/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591240" y="2857680"/>
            <a:ext cx="457092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1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591240" y="3600360"/>
            <a:ext cx="4323240" cy="9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8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Hiperparámetro correspondiente al tamaño equivalente de muestra.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2191040" cy="13212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85800" y="6476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Además de las implementaciones suyas, deben utilizar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85800" y="6172200"/>
            <a:ext cx="10819440" cy="133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3120" cy="4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11125080" y="6381720"/>
            <a:ext cx="379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2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85800" y="1695600"/>
            <a:ext cx="504720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Implementaciones de scikit-learn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85800" y="2276640"/>
            <a:ext cx="49518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Random Forest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85800" y="2962440"/>
            <a:ext cx="476136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85800" y="3247920"/>
            <a:ext cx="49518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Naive Bayes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153120" y="1619280"/>
            <a:ext cx="5352120" cy="3580200"/>
          </a:xfrm>
          <a:prstGeom prst="roundRect">
            <a:avLst>
              <a:gd name="adj" fmla="val 4787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534000" y="1971720"/>
            <a:ext cx="459000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Clasificador base (deben crearlo)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534000" y="2629080"/>
            <a:ext cx="4475520" cy="14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2000"/>
              </a:lnSpc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Siempre predice que gana el equipo con mayor proporción de partidos ganados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534000" y="4400640"/>
            <a:ext cx="43614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Cálculo realizado sobre los últimos diez años.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12191040" cy="13212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85800" y="6476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Entrenamiento y evaluación están separados en el tiempo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85800" y="6172200"/>
            <a:ext cx="10819440" cy="133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3120" cy="4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11125080" y="6381720"/>
            <a:ext cx="379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2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85800" y="1562040"/>
            <a:ext cx="990504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La partición debe respetar el carácter temporal de los datos.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85800" y="2400480"/>
            <a:ext cx="10465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1932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143920" y="2400480"/>
            <a:ext cx="10465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6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2023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9353520" y="2400480"/>
            <a:ext cx="87516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2024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0630080" y="2400480"/>
            <a:ext cx="87516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6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85800" y="2857680"/>
            <a:ext cx="8457120" cy="1180080"/>
          </a:xfrm>
          <a:prstGeom prst="roundRect">
            <a:avLst>
              <a:gd name="adj" fmla="val 11290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028880" y="3124080"/>
            <a:ext cx="77713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ENTRENAMIENTO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028880" y="3476520"/>
            <a:ext cx="777132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Partidos jugados hasta 2023 inclusive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9353520" y="2857680"/>
            <a:ext cx="2151720" cy="1180080"/>
          </a:xfrm>
          <a:prstGeom prst="roundRect">
            <a:avLst>
              <a:gd name="adj" fmla="val 11290"/>
            </a:avLst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9543960" y="3124080"/>
            <a:ext cx="17704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EVALUACIÓN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9543960" y="3476520"/>
            <a:ext cx="1770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2024 y 2025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85800" y="4562640"/>
            <a:ext cx="108194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La evaluación final se realiza sobre los partidos de 2024 y 2025.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0" y="0"/>
            <a:ext cx="12191040" cy="13212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85800" y="6476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Busqueda de hiperparámetros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85800" y="6172200"/>
            <a:ext cx="10819440" cy="133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3120" cy="4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11125080" y="6381720"/>
            <a:ext cx="379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2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85800" y="1743120"/>
            <a:ext cx="52272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7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685800" y="2457360"/>
            <a:ext cx="3142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32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Investigar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85800" y="3000240"/>
            <a:ext cx="3142080" cy="11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cómo particionar datos temporales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3828960" y="1895400"/>
            <a:ext cx="303840" cy="1800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4305240" y="1743120"/>
            <a:ext cx="52272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7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305240" y="2457360"/>
            <a:ext cx="3142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32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Ajustar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305240" y="3000240"/>
            <a:ext cx="3142080" cy="11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los hiperparámetros solicitados y los adicionales que se investiguen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7448400" y="1895400"/>
            <a:ext cx="303840" cy="1800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7924680" y="1743120"/>
            <a:ext cx="52272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7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924680" y="2457360"/>
            <a:ext cx="3142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32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Comparar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924680" y="3000240"/>
            <a:ext cx="3142080" cy="11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el error al modificar los hiperparámetros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85800" y="4533840"/>
            <a:ext cx="10819440" cy="817920"/>
          </a:xfrm>
          <a:prstGeom prst="roundRect">
            <a:avLst>
              <a:gd name="adj" fmla="val 16279"/>
            </a:avLst>
          </a:prstGeom>
          <a:solidFill>
            <a:srgbClr val="E7EF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952560" y="4753080"/>
            <a:ext cx="2094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Deben mostrar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3143160" y="4753080"/>
            <a:ext cx="79617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Gráficas del error al variar los hiperparámetros definidos.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0" y="0"/>
            <a:ext cx="12191040" cy="13212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85800" y="324000"/>
            <a:ext cx="4951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3 · EXPERIMENTACIÓN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85800" y="6476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Métricas y análisis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85800" y="6172200"/>
            <a:ext cx="10819440" cy="133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3120" cy="4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"/>
          <p:cNvSpPr/>
          <p:nvPr/>
        </p:nvSpPr>
        <p:spPr>
          <a:xfrm>
            <a:off x="11125080" y="6381720"/>
            <a:ext cx="379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2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85800" y="1639440"/>
            <a:ext cx="10819440" cy="608400"/>
          </a:xfrm>
          <a:prstGeom prst="roundRect">
            <a:avLst>
              <a:gd name="adj" fmla="val 18750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952560" y="1666800"/>
            <a:ext cx="1028592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 los mejores hiperparámetros: reentrenar a cada metodo sobre todo el conjunto de entrenamiento y evaluarlo en test.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85800" y="2467080"/>
            <a:ext cx="32374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Métricas globales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85800" y="3898440"/>
            <a:ext cx="2570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Accuracy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665640" y="2888280"/>
            <a:ext cx="2570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Macro-F1 (la mas relevante)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4019400" y="2467080"/>
            <a:ext cx="24753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Por clase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4019400" y="2962440"/>
            <a:ext cx="2475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Precisión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019400" y="3438360"/>
            <a:ext cx="2475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Recall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4019400" y="3914640"/>
            <a:ext cx="2475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F1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048440" y="2635200"/>
            <a:ext cx="4456800" cy="253260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3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7391520" y="2724120"/>
            <a:ext cx="377100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Matriz de confusión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7391520" y="3257640"/>
            <a:ext cx="377100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391520" y="3533760"/>
            <a:ext cx="37710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Análisis cualitativo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7391520" y="4000680"/>
            <a:ext cx="3618360" cy="7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58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Para al menos un modelo describir los escenarios en los que funciona mejor y aquellos en los que tiende a equivocarse.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85800" y="5276880"/>
            <a:ext cx="1081944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Comparar el desempeño de todos los clasificadores: propios y de scikit-learn.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0" y="0"/>
            <a:ext cx="12191040" cy="13212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85800" y="6476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Entrega: código, notebook e informe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85800" y="6172200"/>
            <a:ext cx="10819440" cy="133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3120" cy="4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"/>
          <p:cNvSpPr/>
          <p:nvPr/>
        </p:nvSpPr>
        <p:spPr>
          <a:xfrm>
            <a:off x="11125080" y="6381720"/>
            <a:ext cx="379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2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85800" y="1571760"/>
            <a:ext cx="53244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38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428840" y="1590840"/>
            <a:ext cx="34279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Código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428840" y="2028960"/>
            <a:ext cx="512352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Implementaciones propias solicitadas.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428840" y="2523960"/>
            <a:ext cx="512352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85800" y="2685960"/>
            <a:ext cx="53244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38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428840" y="2705040"/>
            <a:ext cx="34279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Jupyter Notebook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1428840" y="3143160"/>
            <a:ext cx="512352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Lee los datos, entrena los modelos y clasifica instancias.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1428840" y="3638520"/>
            <a:ext cx="512352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85800" y="3800520"/>
            <a:ext cx="53244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38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428840" y="3819600"/>
            <a:ext cx="34279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Informe con formato IEEE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1428840" y="4257720"/>
            <a:ext cx="512352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Pruebas y resultados en no más de 5 páginas.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7124760" y="1571760"/>
            <a:ext cx="4380480" cy="3351600"/>
          </a:xfrm>
          <a:prstGeom prst="roundRect">
            <a:avLst>
              <a:gd name="adj" fmla="val 5114"/>
            </a:avLst>
          </a:prstGeom>
          <a:solidFill>
            <a:srgbClr val="E7EF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7467480" y="1876320"/>
            <a:ext cx="3694680" cy="6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2000"/>
              </a:lnSpc>
            </a:pPr>
            <a:r>
              <a:rPr lang="en-US" sz="217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Condiciones de implementación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7467480" y="2743200"/>
            <a:ext cx="367560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58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Python </a:t>
            </a:r>
            <a:r>
              <a:rPr lang="en-US" sz="158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3.12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58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Scikit-learn </a:t>
            </a:r>
            <a:r>
              <a:rPr lang="en-US" sz="158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1.9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58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(Solo com referencia para que no usen python 2.X)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58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Semillas aleatorias fijadas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Bibliotecas permitidas para datos, métricas y visualización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85800" y="5219640"/>
            <a:ext cx="10819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La solución debe ser autocontenida: no se aceptan archivos de procesamiento parciales.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0" y="0"/>
            <a:ext cx="12191040" cy="13212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685800" y="6476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El uso de IA debe ser crítico y declarado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685800" y="6172200"/>
            <a:ext cx="10819440" cy="133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3120" cy="4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1125080" y="6381720"/>
            <a:ext cx="379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2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85800" y="1590840"/>
            <a:ext cx="2589840" cy="3609000"/>
          </a:xfrm>
          <a:prstGeom prst="roundRect">
            <a:avLst>
              <a:gd name="adj" fmla="val 6618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009800" y="2009880"/>
            <a:ext cx="19422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Categoría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1009800" y="2514600"/>
            <a:ext cx="1942200" cy="12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7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7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009800" y="4048200"/>
            <a:ext cx="19422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Uso extensivo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3943440" y="1790640"/>
            <a:ext cx="7066440" cy="25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7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Declarar</a:t>
            </a: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 el uso de IA.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7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Juzgar críticamente</a:t>
            </a: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 sus resultados.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7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Entender</a:t>
            </a: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 el código generado y sus implicaciones técnicas y éticas.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Mantener</a:t>
            </a: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 código claro, comentado y con buenas prácticas.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3943440" y="4524480"/>
            <a:ext cx="706644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943440" y="4809960"/>
            <a:ext cx="7066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Ante dudas, consultar al equipo docente antes de enviar el trabajo.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0" y="0"/>
            <a:ext cx="12191040" cy="13212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85800" y="6476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Dias extra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85800" y="6172200"/>
            <a:ext cx="10819440" cy="133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3120" cy="4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11125080" y="6381720"/>
            <a:ext cx="379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28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685800" y="1986840"/>
            <a:ext cx="2589840" cy="3609000"/>
          </a:xfrm>
          <a:prstGeom prst="roundRect">
            <a:avLst>
              <a:gd name="adj" fmla="val 6618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009800" y="2765880"/>
            <a:ext cx="19422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Dias extra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1009800" y="3270600"/>
            <a:ext cx="1942200" cy="12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7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7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1009800" y="4804200"/>
            <a:ext cx="19422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3691440" y="2366640"/>
            <a:ext cx="7066440" cy="25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Para ambos laboratorios cada grupo va a disponer de </a:t>
            </a:r>
            <a:r>
              <a:rPr lang="en-US" sz="187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4 dias extra </a:t>
            </a: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que podran administrar como quieran.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Pueden ir pidiendolos a medida que los necesiten, pedirlos todos juntos o como les convenga.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Deben pedirlos </a:t>
            </a:r>
            <a:r>
              <a:rPr lang="en-US" sz="187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antes de la fecha de entrega</a:t>
            </a: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 de cada laboratorio.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691440" y="5100480"/>
            <a:ext cx="7066440" cy="828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4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>
            <a:off x="0" y="0"/>
            <a:ext cx="170280" cy="6856920"/>
          </a:xfrm>
          <a:prstGeom prst="rect">
            <a:avLst/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320" tIns="45000" rIns="853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"/>
          <p:cNvPicPr/>
          <p:nvPr/>
        </p:nvPicPr>
        <p:blipFill>
          <a:blip r:embed="rId1"/>
          <a:stretch/>
        </p:blipFill>
        <p:spPr>
          <a:xfrm>
            <a:off x="685800" y="460800"/>
            <a:ext cx="4285080" cy="86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"/>
          <p:cNvSpPr/>
          <p:nvPr/>
        </p:nvSpPr>
        <p:spPr>
          <a:xfrm>
            <a:off x="685800" y="2095560"/>
            <a:ext cx="4761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Fecha límite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85800" y="2571840"/>
            <a:ext cx="971460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4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Lunes 21 de septiembre</a:t>
            </a:r>
            <a:endParaRPr lang="en-US" sz="4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685800" y="3314880"/>
            <a:ext cx="723780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6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 2026 · 23:59</a:t>
            </a:r>
            <a:endParaRPr lang="en-US" sz="3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85800" y="4362480"/>
            <a:ext cx="1808640" cy="37080"/>
          </a:xfrm>
          <a:prstGeom prst="rect">
            <a:avLst/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85800" y="4705200"/>
            <a:ext cx="95238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2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Código + notebook autocontenido + informe IEEE de hasta 5 páginas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2026-08-17T01:00:04Z</dcterms:created>
  <dc:creator>Walnut Exporter</dc:creator>
  <dc:description/>
  <dc:language>en-US</dc:language>
  <cp:lastModifiedBy/>
  <dcterms:modified xsi:type="dcterms:W3CDTF">2026-08-17T22:10:04Z</dcterms:modified>
  <cp:revision>3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